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bfb67e5fdb425b" /><Relationship Type="http://schemas.openxmlformats.org/officeDocument/2006/relationships/extended-properties" Target="/docProps/app.xml" Id="R5428c916cc6f4af2" /><Relationship Type="http://schemas.openxmlformats.org/officeDocument/2006/relationships/officeDocument" Target="/ppt/presentation.xml" Id="R1078b9398a0b43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03c0a985a842a2"/>
  </p:sldMasterIdLst>
  <p:notesMasterIdLst>
    <p:notesMasterId xmlns:r="http://schemas.openxmlformats.org/officeDocument/2006/relationships" r:id="Ra283a462a1ca4ae8"/>
  </p:notesMasterIdLst>
  <p:sldIdLst>
    <p:sldId xmlns:r="http://schemas.openxmlformats.org/officeDocument/2006/relationships" id="256" r:id="R29e5a1528dc744b7"/>
    <p:sldId xmlns:r="http://schemas.openxmlformats.org/officeDocument/2006/relationships" id="257" r:id="Reb9f12b4659e403f"/>
    <p:sldId xmlns:r="http://schemas.openxmlformats.org/officeDocument/2006/relationships" id="258" r:id="R0b80cc8f3f1442c7"/>
    <p:sldId xmlns:r="http://schemas.openxmlformats.org/officeDocument/2006/relationships" id="259" r:id="Re0a6a7b3da4e404b"/>
    <p:sldId xmlns:r="http://schemas.openxmlformats.org/officeDocument/2006/relationships" id="260" r:id="R547cadf4ad7b4e28"/>
    <p:sldId xmlns:r="http://schemas.openxmlformats.org/officeDocument/2006/relationships" id="261" r:id="R2e0677063cb84ff2"/>
    <p:sldId xmlns:r="http://schemas.openxmlformats.org/officeDocument/2006/relationships" id="262" r:id="Ra2d655407d244101"/>
    <p:sldId xmlns:r="http://schemas.openxmlformats.org/officeDocument/2006/relationships" id="263" r:id="R565af7fd72aa47e2"/>
    <p:sldId xmlns:r="http://schemas.openxmlformats.org/officeDocument/2006/relationships" id="264" r:id="Rc584f9f080c3483d"/>
    <p:sldId xmlns:r="http://schemas.openxmlformats.org/officeDocument/2006/relationships" id="265" r:id="Rf5a460c9c0a4403c"/>
    <p:sldId xmlns:r="http://schemas.openxmlformats.org/officeDocument/2006/relationships" id="266" r:id="Rb91bba4a2ad34499"/>
    <p:sldId xmlns:r="http://schemas.openxmlformats.org/officeDocument/2006/relationships" id="267" r:id="Rb7faf62e2db04e51"/>
    <p:sldId xmlns:r="http://schemas.openxmlformats.org/officeDocument/2006/relationships" id="268" r:id="Rbc284116c2934385"/>
    <p:sldId xmlns:r="http://schemas.openxmlformats.org/officeDocument/2006/relationships" id="269" r:id="R64328505aaa34749"/>
    <p:sldId xmlns:r="http://schemas.openxmlformats.org/officeDocument/2006/relationships" id="270" r:id="Rb899216488cd4e7e"/>
    <p:sldId xmlns:r="http://schemas.openxmlformats.org/officeDocument/2006/relationships" id="271" r:id="R796da9cef97d4425"/>
    <p:sldId xmlns:r="http://schemas.openxmlformats.org/officeDocument/2006/relationships" id="272" r:id="R2702f6b7f0ce4713"/>
    <p:sldId xmlns:r="http://schemas.openxmlformats.org/officeDocument/2006/relationships" id="273" r:id="Rbc41add7233a4388"/>
    <p:sldId xmlns:r="http://schemas.openxmlformats.org/officeDocument/2006/relationships" id="274" r:id="R4449adfddfe64093"/>
    <p:sldId xmlns:r="http://schemas.openxmlformats.org/officeDocument/2006/relationships" id="275" r:id="R72344452e11543dc"/>
    <p:sldId xmlns:r="http://schemas.openxmlformats.org/officeDocument/2006/relationships" id="276" r:id="Rb4ca25eb3a5f4534"/>
    <p:sldId xmlns:r="http://schemas.openxmlformats.org/officeDocument/2006/relationships" id="277" r:id="Rdfa1c90e0f7140b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5fda463e374953" /><Relationship Type="http://schemas.openxmlformats.org/officeDocument/2006/relationships/slideMaster" Target="/ppt/slideMasters/slideMaster1.xml" Id="R3903c0a985a842a2" /><Relationship Type="http://schemas.openxmlformats.org/officeDocument/2006/relationships/notesMaster" Target="/ppt/notesMasters/notesMaster1.xml" Id="Ra283a462a1ca4ae8" /><Relationship Type="http://schemas.openxmlformats.org/officeDocument/2006/relationships/presProps" Target="/ppt/presProps.xml" Id="R3d691420c38648f6" /><Relationship Type="http://schemas.openxmlformats.org/officeDocument/2006/relationships/tableStyles" Target="/ppt/tableStyles.xml" Id="R9568c00d64414720" /><Relationship Type="http://schemas.openxmlformats.org/officeDocument/2006/relationships/slide" Target="/ppt/slides/slide1.xml" Id="R29e5a1528dc744b7" /><Relationship Type="http://schemas.openxmlformats.org/officeDocument/2006/relationships/slide" Target="/ppt/slides/slide2.xml" Id="Reb9f12b4659e403f" /><Relationship Type="http://schemas.openxmlformats.org/officeDocument/2006/relationships/slide" Target="/ppt/slides/slide3.xml" Id="R0b80cc8f3f1442c7" /><Relationship Type="http://schemas.openxmlformats.org/officeDocument/2006/relationships/slide" Target="/ppt/slides/slide4.xml" Id="Re0a6a7b3da4e404b" /><Relationship Type="http://schemas.openxmlformats.org/officeDocument/2006/relationships/slide" Target="/ppt/slides/slide5.xml" Id="R547cadf4ad7b4e28" /><Relationship Type="http://schemas.openxmlformats.org/officeDocument/2006/relationships/slide" Target="/ppt/slides/slide6.xml" Id="R2e0677063cb84ff2" /><Relationship Type="http://schemas.openxmlformats.org/officeDocument/2006/relationships/slide" Target="/ppt/slides/slide7.xml" Id="Ra2d655407d244101" /><Relationship Type="http://schemas.openxmlformats.org/officeDocument/2006/relationships/slide" Target="/ppt/slides/slide8.xml" Id="R565af7fd72aa47e2" /><Relationship Type="http://schemas.openxmlformats.org/officeDocument/2006/relationships/slide" Target="/ppt/slides/slide9.xml" Id="Rc584f9f080c3483d" /><Relationship Type="http://schemas.openxmlformats.org/officeDocument/2006/relationships/slide" Target="/ppt/slides/slide10.xml" Id="Rf5a460c9c0a4403c" /><Relationship Type="http://schemas.openxmlformats.org/officeDocument/2006/relationships/slide" Target="/ppt/slides/slide11.xml" Id="Rb91bba4a2ad34499" /><Relationship Type="http://schemas.openxmlformats.org/officeDocument/2006/relationships/slide" Target="/ppt/slides/slide12.xml" Id="Rb7faf62e2db04e51" /><Relationship Type="http://schemas.openxmlformats.org/officeDocument/2006/relationships/slide" Target="/ppt/slides/slide13.xml" Id="Rbc284116c2934385" /><Relationship Type="http://schemas.openxmlformats.org/officeDocument/2006/relationships/slide" Target="/ppt/slides/slide14.xml" Id="R64328505aaa34749" /><Relationship Type="http://schemas.openxmlformats.org/officeDocument/2006/relationships/slide" Target="/ppt/slides/slide15.xml" Id="Rb899216488cd4e7e" /><Relationship Type="http://schemas.openxmlformats.org/officeDocument/2006/relationships/slide" Target="/ppt/slides/slide16.xml" Id="R796da9cef97d4425" /><Relationship Type="http://schemas.openxmlformats.org/officeDocument/2006/relationships/slide" Target="/ppt/slides/slide17.xml" Id="R2702f6b7f0ce4713" /><Relationship Type="http://schemas.openxmlformats.org/officeDocument/2006/relationships/slide" Target="/ppt/slides/slide18.xml" Id="Rbc41add7233a4388" /><Relationship Type="http://schemas.openxmlformats.org/officeDocument/2006/relationships/slide" Target="/ppt/slides/slide19.xml" Id="R4449adfddfe64093" /><Relationship Type="http://schemas.openxmlformats.org/officeDocument/2006/relationships/slide" Target="/ppt/slides/slide20.xml" Id="R72344452e11543dc" /><Relationship Type="http://schemas.openxmlformats.org/officeDocument/2006/relationships/slide" Target="/ppt/slides/slide21.xml" Id="Rb4ca25eb3a5f4534" /><Relationship Type="http://schemas.openxmlformats.org/officeDocument/2006/relationships/slide" Target="/ppt/slides/slide22.xml" Id="Rdfa1c90e0f7140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1d6d857da241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2915f0883c4093" /><Relationship Type="http://schemas.openxmlformats.org/officeDocument/2006/relationships/notesMaster" Target="/ppt/notesMasters/notesMaster1.xml" Id="Re91756c254de40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c15b1dbc384ed0" /><Relationship Type="http://schemas.openxmlformats.org/officeDocument/2006/relationships/notesMaster" Target="/ppt/notesMasters/notesMaster1.xml" Id="R9499f4457f2141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8b612d35b04d7c" /><Relationship Type="http://schemas.openxmlformats.org/officeDocument/2006/relationships/notesMaster" Target="/ppt/notesMasters/notesMaster1.xml" Id="R1f47b094b1464a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ea798f055a4791" /><Relationship Type="http://schemas.openxmlformats.org/officeDocument/2006/relationships/notesMaster" Target="/ppt/notesMasters/notesMaster1.xml" Id="R9294709673164d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0dde2a60644037" /><Relationship Type="http://schemas.openxmlformats.org/officeDocument/2006/relationships/notesMaster" Target="/ppt/notesMasters/notesMaster1.xml" Id="R5633728d939c4c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9732230e474987" /><Relationship Type="http://schemas.openxmlformats.org/officeDocument/2006/relationships/notesMaster" Target="/ppt/notesMasters/notesMaster1.xml" Id="Rc23f0d8a680d40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8c00f545d44cdd" /><Relationship Type="http://schemas.openxmlformats.org/officeDocument/2006/relationships/notesMaster" Target="/ppt/notesMasters/notesMaster1.xml" Id="R0335aaf921f44c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2acbc5380a41f0" /><Relationship Type="http://schemas.openxmlformats.org/officeDocument/2006/relationships/notesMaster" Target="/ppt/notesMasters/notesMaster1.xml" Id="R88fe136e598c42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0a7009aa9844fd" /><Relationship Type="http://schemas.openxmlformats.org/officeDocument/2006/relationships/notesMaster" Target="/ppt/notesMasters/notesMaster1.xml" Id="R49a1266358044d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f6cd8dd8314e9e" /><Relationship Type="http://schemas.openxmlformats.org/officeDocument/2006/relationships/notesMaster" Target="/ppt/notesMasters/notesMaster1.xml" Id="Rb1f95854541e4d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126afb2beb410a" /><Relationship Type="http://schemas.openxmlformats.org/officeDocument/2006/relationships/notesMaster" Target="/ppt/notesMasters/notesMaster1.xml" Id="R5092d1b3ce4b45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751e8bfdf143d9" /><Relationship Type="http://schemas.openxmlformats.org/officeDocument/2006/relationships/notesMaster" Target="/ppt/notesMasters/notesMaster1.xml" Id="R44c5c0882ed74e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d3908b8c904644" /><Relationship Type="http://schemas.openxmlformats.org/officeDocument/2006/relationships/notesMaster" Target="/ppt/notesMasters/notesMaster1.xml" Id="Re10d0ac0a04a4d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61f65453a5d4c9e" /><Relationship Type="http://schemas.openxmlformats.org/officeDocument/2006/relationships/notesMaster" Target="/ppt/notesMasters/notesMaster1.xml" Id="R56a2f68879bd47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6e769799c748fe" /><Relationship Type="http://schemas.openxmlformats.org/officeDocument/2006/relationships/notesMaster" Target="/ppt/notesMasters/notesMaster1.xml" Id="R616ebf17b9d7445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c2956d238944a0" /><Relationship Type="http://schemas.openxmlformats.org/officeDocument/2006/relationships/notesMaster" Target="/ppt/notesMasters/notesMaster1.xml" Id="R1a91017ef9d84f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64fda16364a4f19" /><Relationship Type="http://schemas.openxmlformats.org/officeDocument/2006/relationships/notesMaster" Target="/ppt/notesMasters/notesMaster1.xml" Id="R73a73fd3332e4e1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003cbc1e5c04561" /><Relationship Type="http://schemas.openxmlformats.org/officeDocument/2006/relationships/notesMaster" Target="/ppt/notesMasters/notesMaster1.xml" Id="Rc6d4959639b2456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c0b2942eea2473d" /><Relationship Type="http://schemas.openxmlformats.org/officeDocument/2006/relationships/notesMaster" Target="/ppt/notesMasters/notesMaster1.xml" Id="Rd8408c4403cd44f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1d51944204b4ece" /><Relationship Type="http://schemas.openxmlformats.org/officeDocument/2006/relationships/notesMaster" Target="/ppt/notesMasters/notesMaster1.xml" Id="R99f6a37b067c43b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b018b698aa84bf9" /><Relationship Type="http://schemas.openxmlformats.org/officeDocument/2006/relationships/notesMaster" Target="/ppt/notesMasters/notesMaster1.xml" Id="Reb7552d3b74c453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62f5dccf3934690" /><Relationship Type="http://schemas.openxmlformats.org/officeDocument/2006/relationships/notesMaster" Target="/ppt/notesMasters/notesMaster1.xml" Id="Rf72887aa61174b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fd83c48c740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ef192ca3f34766" /><Relationship Type="http://schemas.openxmlformats.org/officeDocument/2006/relationships/slideLayout" Target="/ppt/slideLayouts/slideLayout1.xml" Id="R432051af4a0543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2051af4a0543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952f0c13b455f" /><Relationship Type="http://schemas.openxmlformats.org/officeDocument/2006/relationships/image" Target="/ppt/media/image.jpeg" Id="Ra93deb7ad26a4479" /><Relationship Type="http://schemas.openxmlformats.org/officeDocument/2006/relationships/image" Target="/ppt/media/image2.jpeg" Id="R5924fff50c3b4583" /><Relationship Type="http://schemas.openxmlformats.org/officeDocument/2006/relationships/notesSlide" Target="/ppt/notesSlides/notesSlide1.xml" Id="R44d11fa17b3b45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512da19304565" /><Relationship Type="http://schemas.openxmlformats.org/officeDocument/2006/relationships/notesSlide" Target="/ppt/notesSlides/notesSlide2.xml" Id="R1a3653afd14742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33ce9b12a4e75" /><Relationship Type="http://schemas.openxmlformats.org/officeDocument/2006/relationships/image" Target="/ppt/media/image3.jpeg" Id="R1ab19204e89849a5" /><Relationship Type="http://schemas.openxmlformats.org/officeDocument/2006/relationships/image" Target="/ppt/media/image4.jpeg" Id="R8cb4149809934087" /><Relationship Type="http://schemas.openxmlformats.org/officeDocument/2006/relationships/image" Target="/ppt/media/image5.jpeg" Id="R96ff9df84ea6447b" /><Relationship Type="http://schemas.openxmlformats.org/officeDocument/2006/relationships/image" Target="/ppt/media/image6.jpeg" Id="R706e0025e52f42af" /><Relationship Type="http://schemas.openxmlformats.org/officeDocument/2006/relationships/notesSlide" Target="/ppt/notesSlides/notesSlide3.xml" Id="R64c00006a42c44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e93f93cea4d58" /><Relationship Type="http://schemas.openxmlformats.org/officeDocument/2006/relationships/image" Target="/ppt/media/image7.jpeg" Id="Rbdc7d5aaad9c412e" /><Relationship Type="http://schemas.openxmlformats.org/officeDocument/2006/relationships/image" Target="/ppt/media/image8.jpeg" Id="Rb930a773fe804092" /><Relationship Type="http://schemas.openxmlformats.org/officeDocument/2006/relationships/image" Target="/ppt/media/image9.jpeg" Id="Rcb33e9558102458a" /><Relationship Type="http://schemas.openxmlformats.org/officeDocument/2006/relationships/image" Target="/ppt/media/image10.jpeg" Id="R401a1a12bd2c4d9c" /><Relationship Type="http://schemas.openxmlformats.org/officeDocument/2006/relationships/notesSlide" Target="/ppt/notesSlides/notesSlide4.xml" Id="R66ed7be0207f49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b77e9eebc4ebd" /><Relationship Type="http://schemas.openxmlformats.org/officeDocument/2006/relationships/image" Target="/ppt/media/image11.jpeg" Id="R8e7478c57ced4ab5" /><Relationship Type="http://schemas.openxmlformats.org/officeDocument/2006/relationships/image" Target="/ppt/media/image12.jpeg" Id="Rf59bd03060ce4d45" /><Relationship Type="http://schemas.openxmlformats.org/officeDocument/2006/relationships/image" Target="/ppt/media/image13.jpeg" Id="Ra05f7665151448b6" /><Relationship Type="http://schemas.openxmlformats.org/officeDocument/2006/relationships/image" Target="/ppt/media/image14.jpeg" Id="Rcf651fae0d0a4cae" /><Relationship Type="http://schemas.openxmlformats.org/officeDocument/2006/relationships/notesSlide" Target="/ppt/notesSlides/notesSlide5.xml" Id="R722287c8697b43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6682e03ab4b30" /><Relationship Type="http://schemas.openxmlformats.org/officeDocument/2006/relationships/image" Target="/ppt/media/image15.jpeg" Id="R0c1769e76b9a48e1" /><Relationship Type="http://schemas.openxmlformats.org/officeDocument/2006/relationships/image" Target="/ppt/media/image16.jpeg" Id="Rf74b5fed36e845a2" /><Relationship Type="http://schemas.openxmlformats.org/officeDocument/2006/relationships/image" Target="/ppt/media/image17.jpeg" Id="R947a5735800c49f5" /><Relationship Type="http://schemas.openxmlformats.org/officeDocument/2006/relationships/image" Target="/ppt/media/image18.jpeg" Id="Re0c52537a5c34f5b" /><Relationship Type="http://schemas.openxmlformats.org/officeDocument/2006/relationships/notesSlide" Target="/ppt/notesSlides/notesSlide6.xml" Id="R43f02408c42c49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ed51d00434111" /><Relationship Type="http://schemas.openxmlformats.org/officeDocument/2006/relationships/image" Target="/ppt/media/image19.jpeg" Id="R02a0f1bf81c14c9e" /><Relationship Type="http://schemas.openxmlformats.org/officeDocument/2006/relationships/image" Target="/ppt/media/image20.jpeg" Id="R70e380f458994f4a" /><Relationship Type="http://schemas.openxmlformats.org/officeDocument/2006/relationships/image" Target="/ppt/media/image21.jpeg" Id="R18fcef26afdd428c" /><Relationship Type="http://schemas.openxmlformats.org/officeDocument/2006/relationships/image" Target="/ppt/media/image22.jpeg" Id="R2c79c7997df04901" /><Relationship Type="http://schemas.openxmlformats.org/officeDocument/2006/relationships/notesSlide" Target="/ppt/notesSlides/notesSlide7.xml" Id="R1ef657eeeb7c48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6ceeba6274676" /><Relationship Type="http://schemas.openxmlformats.org/officeDocument/2006/relationships/image" Target="/ppt/media/image23.jpeg" Id="R1a917179f708473b" /><Relationship Type="http://schemas.openxmlformats.org/officeDocument/2006/relationships/notesSlide" Target="/ppt/notesSlides/notesSlide8.xml" Id="Rf2453c4b19d746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3783719444d5a" /><Relationship Type="http://schemas.openxmlformats.org/officeDocument/2006/relationships/image" Target="/ppt/media/image24.jpeg" Id="R80ad98254e994914" /><Relationship Type="http://schemas.openxmlformats.org/officeDocument/2006/relationships/notesSlide" Target="/ppt/notesSlides/notesSlide9.xml" Id="R0d92d54093e24b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0c0a0af2b49f4" /><Relationship Type="http://schemas.openxmlformats.org/officeDocument/2006/relationships/image" Target="/ppt/media/image25.jpeg" Id="Rfde1cc986bdc4ff1" /><Relationship Type="http://schemas.openxmlformats.org/officeDocument/2006/relationships/notesSlide" Target="/ppt/notesSlides/notesSlide10.xml" Id="R83259425f3434f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37d0d503d436c" /><Relationship Type="http://schemas.openxmlformats.org/officeDocument/2006/relationships/image" Target="/ppt/media/image26.jpeg" Id="Rce34d9a371444908" /><Relationship Type="http://schemas.openxmlformats.org/officeDocument/2006/relationships/notesSlide" Target="/ppt/notesSlides/notesSlide11.xml" Id="R201c4ffd78f344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92bc47f82438d" /><Relationship Type="http://schemas.openxmlformats.org/officeDocument/2006/relationships/image" Target="/ppt/media/image27.jpeg" Id="Red30ea2c46cc4238" /><Relationship Type="http://schemas.openxmlformats.org/officeDocument/2006/relationships/notesSlide" Target="/ppt/notesSlides/notesSlide12.xml" Id="Reb93ba6a087645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3801f323e4175" /><Relationship Type="http://schemas.openxmlformats.org/officeDocument/2006/relationships/image" Target="/ppt/media/image28.jpeg" Id="Rb8f2cc3d197e4c02" /><Relationship Type="http://schemas.openxmlformats.org/officeDocument/2006/relationships/notesSlide" Target="/ppt/notesSlides/notesSlide13.xml" Id="Re60bd32ad97249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1666b6460461e" /><Relationship Type="http://schemas.openxmlformats.org/officeDocument/2006/relationships/image" Target="/ppt/media/image29.jpeg" Id="R82f42c9287bc42a3" /><Relationship Type="http://schemas.openxmlformats.org/officeDocument/2006/relationships/notesSlide" Target="/ppt/notesSlides/notesSlide14.xml" Id="R60d95787c4b1464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61761485c4d47" /><Relationship Type="http://schemas.openxmlformats.org/officeDocument/2006/relationships/image" Target="/ppt/media/image30.jpeg" Id="Raad74c121f384c5c" /><Relationship Type="http://schemas.openxmlformats.org/officeDocument/2006/relationships/notesSlide" Target="/ppt/notesSlides/notesSlide15.xml" Id="Rc47a997c34d24d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7622afc9d4bf0" /><Relationship Type="http://schemas.openxmlformats.org/officeDocument/2006/relationships/image" Target="/ppt/media/image31.jpeg" Id="Rebc817815e7f4487" /><Relationship Type="http://schemas.openxmlformats.org/officeDocument/2006/relationships/notesSlide" Target="/ppt/notesSlides/notesSlide16.xml" Id="Rc602368eafce430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0afb2ec3c4079" /><Relationship Type="http://schemas.openxmlformats.org/officeDocument/2006/relationships/image" Target="/ppt/media/image32.jpeg" Id="R0e43ab578bb34fd0" /><Relationship Type="http://schemas.openxmlformats.org/officeDocument/2006/relationships/notesSlide" Target="/ppt/notesSlides/notesSlide17.xml" Id="Rf947f70d4f48477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49e87cae94e0a" /><Relationship Type="http://schemas.openxmlformats.org/officeDocument/2006/relationships/image" Target="/ppt/media/image33.jpeg" Id="R331bb8fd05a847c7" /><Relationship Type="http://schemas.openxmlformats.org/officeDocument/2006/relationships/notesSlide" Target="/ppt/notesSlides/notesSlide18.xml" Id="Rb93799f021c1432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346b7db794248" /><Relationship Type="http://schemas.openxmlformats.org/officeDocument/2006/relationships/image" Target="/ppt/media/image34.jpeg" Id="R75794bb9b2d04b41" /><Relationship Type="http://schemas.openxmlformats.org/officeDocument/2006/relationships/notesSlide" Target="/ppt/notesSlides/notesSlide19.xml" Id="Rf625649ef4594d6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e500a42f04945" /><Relationship Type="http://schemas.openxmlformats.org/officeDocument/2006/relationships/image" Target="/ppt/media/image35.jpeg" Id="Rde3f1ee12f6441bb" /><Relationship Type="http://schemas.openxmlformats.org/officeDocument/2006/relationships/notesSlide" Target="/ppt/notesSlides/notesSlide20.xml" Id="Re99699437e924b4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fb14a4e864f8b" /><Relationship Type="http://schemas.openxmlformats.org/officeDocument/2006/relationships/notesSlide" Target="/ppt/notesSlides/notesSlide21.xml" Id="R41ff888b33694e0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22001e5104f6d" /><Relationship Type="http://schemas.openxmlformats.org/officeDocument/2006/relationships/notesSlide" Target="/ppt/notesSlides/notesSlide22.xml" Id="R3794338f1af347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1D9511-A7C4-4B3D-AA69-FC283768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8A3B"/>
                </a:solidFill>
              </a:defRPr>
            </a:pPr>
            <a:r>
              <a:rPr sz="2250" b="1">
                <a:solidFill>
                  <a:srgbClr val="078A3B"/>
                </a:solidFill>
              </a:rPr>
              <a:t>帕斯卡画廊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3B60B-3ABB-4C05-BF55-68E392A6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312"/>
                </a:solidFill>
              </a:defRPr>
            </a:pPr>
            <a:r>
              <a:rPr sz="4350" b="1">
                <a:solidFill>
                  <a:srgbClr val="101312"/>
                </a:solidFill>
              </a:rPr>
              <a:t>服务内容与过往项目案例集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D723C-3FFE-41E7-9A31-21C8710F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06A"/>
                </a:solidFill>
              </a:defRPr>
            </a:pPr>
            <a:r>
              <a:rPr sz="1725" b="0">
                <a:solidFill>
                  <a:srgbClr val="62706A"/>
                </a:solidFill>
              </a:rPr>
              <a:t>围绕艺术品销售、艺术品与场地租赁、文旅项目策划、设计、景观艺术品制作施工五类服务，对现有资料进行重新分类和展示。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8544C-613C-403E-B15C-E86BBF4E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15 个资料源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00CEB-615B-4F05-84A5-34B3D346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767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13 个整理项目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1D516-0B1A-4A3D-82AC-ED12234A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767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5 类服务板块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deb7ad26a4479"/>
          <a:srcRect xmlns:a="http://schemas.openxmlformats.org/drawingml/2006/main" l="0" t="23242" r="0" b="232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8191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24fff50c3b4583"/>
          <a:srcRect xmlns:a="http://schemas.openxmlformats.org/drawingml/2006/main" l="0" t="26218" r="0" b="262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3524250"/>
            <a:ext cx="4095750" cy="219075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</p:spTree>
    <p:extLst>
      <p:ext uri="{BB962C8B-B14F-4D97-AF65-F5344CB8AC3E}">
        <p14:creationId xmlns:p14="http://schemas.microsoft.com/office/powerpoint/2010/main" val="7368095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CC2F91-E293-41BF-AB2C-8F9CA2C7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E7791-6C41-41F2-961F-F1161476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帕斯卡画廊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D1E5E-66D1-49A3-AC26-D9E53A3B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312"/>
                </a:solidFill>
              </a:defRPr>
            </a:pPr>
            <a:r>
              <a:rPr sz="3150" b="1">
                <a:solidFill>
                  <a:srgbClr val="101312"/>
                </a:solidFill>
              </a:rPr>
              <a:t>五类服务共同覆盖艺术内容的策划、交易、运营、设计与落地。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AF97D-DE88-48D6-AEBE-AF46F513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E66A"/>
          </a:solidFill>
          <a:ln xmlns:a="http://schemas.openxmlformats.org/drawingml/2006/main" w="0">
            <a:solidFill>
              <a:srgbClr val="19E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F76C1-549B-4E22-A310-4213DC46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000250" cy="2857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8FF7E-E899-466B-9DF6-6D14E5B2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2"/>
                </a:solidFill>
              </a:defRPr>
            </a:pPr>
            <a:r>
              <a:rPr sz="1875" b="1">
                <a:solidFill>
                  <a:srgbClr val="101312"/>
                </a:solidFill>
              </a:rPr>
              <a:t>艺术品销售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3DCF3-51C4-4668-AA09-47D270BE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657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06A"/>
                </a:solidFill>
              </a:defRPr>
            </a:pPr>
            <a:r>
              <a:rPr sz="1200" b="0">
                <a:solidFill>
                  <a:srgbClr val="62706A"/>
                </a:solidFill>
              </a:rPr>
              <a:t>以画廊资源、艺术家资源和策展能力为基础，为商业空间、酒店、文旅目的地和收藏场景提供作品选择、展陈、销售转化与艺术资产配置。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B8CDD-8804-4585-AB44-9687A4A4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8A3B"/>
                </a:solidFill>
              </a:defRPr>
            </a:pPr>
            <a:r>
              <a:rPr sz="1200" b="1">
                <a:solidFill>
                  <a:srgbClr val="078A3B"/>
                </a:solidFill>
              </a:rPr>
              <a:t>艺术家与作品资源组织</a:t>
            </a:r>
          </a:p>
          <a:p xmlns:a="http://schemas.openxmlformats.org/drawingml/2006/main">
            <a:pPr algn="l">
              <a:defRPr sz="1200" b="1">
                <a:solidFill>
                  <a:srgbClr val="078A3B"/>
                </a:solidFill>
              </a:defRPr>
            </a:pPr>
            <a:r>
              <a:rPr sz="1200" b="1">
                <a:solidFill>
                  <a:srgbClr val="078A3B"/>
                </a:solidFill>
              </a:rPr>
              <a:t>展览策划与作品销售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43D7D-4EE3-48C8-97E2-782C1B67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66950"/>
            <a:ext cx="2000250" cy="2857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5FAF6"/>
          </a:solidFill>
          <a:ln xmlns:a="http://schemas.openxmlformats.org/drawingml/2006/main" w="9525">
            <a:solidFill>
              <a:srgbClr val="DFE7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C7CB6-21F8-4823-B124-5856A7B9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574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2"/>
                </a:solidFill>
              </a:defRPr>
            </a:pPr>
            <a:r>
              <a:rPr sz="1875" b="1">
                <a:solidFill>
                  <a:srgbClr val="101312"/>
                </a:solidFill>
              </a:rPr>
              <a:t>艺术品与场地租赁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F6285-59C8-4B8D-9700-558EE461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05150"/>
            <a:ext cx="1657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06A"/>
                </a:solidFill>
              </a:defRPr>
            </a:pPr>
            <a:r>
              <a:rPr sz="1200" b="0">
                <a:solidFill>
                  <a:srgbClr val="62706A"/>
                </a:solidFill>
              </a:rPr>
              <a:t>围绕美术馆、艺术空间、商业空间和临时展场，提供艺术内容植入、场地运营、展览落位、艺术品租赁与空间活化。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9D4FC-A2D8-44D8-BD9E-760B2B8B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8A3B"/>
                </a:solidFill>
              </a:defRPr>
            </a:pPr>
            <a:r>
              <a:rPr sz="1200" b="1">
                <a:solidFill>
                  <a:srgbClr val="078A3B"/>
                </a:solidFill>
              </a:rPr>
              <a:t>艺术空间运营</a:t>
            </a:r>
          </a:p>
          <a:p xmlns:a="http://schemas.openxmlformats.org/drawingml/2006/main">
            <a:pPr algn="l">
              <a:defRPr sz="1200" b="1">
                <a:solidFill>
                  <a:srgbClr val="078A3B"/>
                </a:solidFill>
              </a:defRPr>
            </a:pPr>
            <a:r>
              <a:rPr sz="1200" b="1">
                <a:solidFill>
                  <a:srgbClr val="078A3B"/>
                </a:solidFill>
              </a:rPr>
              <a:t>展览与活动落位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75EC2-9291-415E-8030-B290E41A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66950"/>
            <a:ext cx="2000250" cy="2857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4DE16-9697-45F6-A127-60D132E1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574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2"/>
                </a:solidFill>
              </a:defRPr>
            </a:pPr>
            <a:r>
              <a:rPr sz="1875" b="1">
                <a:solidFill>
                  <a:srgbClr val="101312"/>
                </a:solidFill>
              </a:rPr>
              <a:t>文旅项目策划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3EEDC-6B4A-40C0-BC8F-22B2C52D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05150"/>
            <a:ext cx="1657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06A"/>
                </a:solidFill>
              </a:defRPr>
            </a:pPr>
            <a:r>
              <a:rPr sz="1200" b="0">
                <a:solidFill>
                  <a:srgbClr val="62706A"/>
                </a:solidFill>
              </a:rPr>
              <a:t>将地方文化、生态资源、公共活动和艺术内容整合成可传播、可体验、可运营的文旅项目。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62A8C-B6C4-4C91-A702-0B5C62D9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00550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8A3B"/>
                </a:solidFill>
              </a:defRPr>
            </a:pPr>
            <a:r>
              <a:rPr sz="1200" b="1">
                <a:solidFill>
                  <a:srgbClr val="078A3B"/>
                </a:solidFill>
              </a:rPr>
              <a:t>文旅定位与产品体系</a:t>
            </a:r>
          </a:p>
          <a:p xmlns:a="http://schemas.openxmlformats.org/drawingml/2006/main">
            <a:pPr algn="l">
              <a:defRPr sz="1200" b="1">
                <a:solidFill>
                  <a:srgbClr val="078A3B"/>
                </a:solidFill>
              </a:defRPr>
            </a:pPr>
            <a:r>
              <a:rPr sz="1200" b="1">
                <a:solidFill>
                  <a:srgbClr val="078A3B"/>
                </a:solidFill>
              </a:rPr>
              <a:t>活动策划与节庆设计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502058-E51E-4D89-8C8E-2029B511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2000250" cy="2857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5FAF6"/>
          </a:solidFill>
          <a:ln xmlns:a="http://schemas.openxmlformats.org/drawingml/2006/main" w="9525">
            <a:solidFill>
              <a:srgbClr val="DFE7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083CA-14A6-4486-9D51-42080878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2"/>
                </a:solidFill>
              </a:defRPr>
            </a:pPr>
            <a:r>
              <a:rPr sz="1875" b="1">
                <a:solidFill>
                  <a:srgbClr val="101312"/>
                </a:solidFill>
              </a:rPr>
              <a:t>设计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593F5E-77B8-449B-8D52-467CD52E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05150"/>
            <a:ext cx="1657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06A"/>
                </a:solidFill>
              </a:defRPr>
            </a:pPr>
            <a:r>
              <a:rPr sz="1200" b="0">
                <a:solidFill>
                  <a:srgbClr val="62706A"/>
                </a:solidFill>
              </a:rPr>
              <a:t>覆盖商业美陈、艺术空间改造、展览视觉、品牌活动和文化场景设计，把艺术内容转化为可落地的视觉与空间体验。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71AC4-0C35-4E1C-8A9C-E0BFE62D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8A3B"/>
                </a:solidFill>
              </a:defRPr>
            </a:pPr>
            <a:r>
              <a:rPr sz="1200" b="1">
                <a:solidFill>
                  <a:srgbClr val="078A3B"/>
                </a:solidFill>
              </a:rPr>
              <a:t>空间概念设计</a:t>
            </a:r>
          </a:p>
          <a:p xmlns:a="http://schemas.openxmlformats.org/drawingml/2006/main">
            <a:pPr algn="l">
              <a:defRPr sz="1200" b="1">
                <a:solidFill>
                  <a:srgbClr val="078A3B"/>
                </a:solidFill>
              </a:defRPr>
            </a:pPr>
            <a:r>
              <a:rPr sz="1200" b="1">
                <a:solidFill>
                  <a:srgbClr val="078A3B"/>
                </a:solidFill>
              </a:rPr>
              <a:t>商业美陈提升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FA8831-AEC7-42FB-A3BD-0AF00130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66950"/>
            <a:ext cx="2000250" cy="2857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F712C8-7537-4A5E-8C46-EC3A64F2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574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2"/>
                </a:solidFill>
              </a:defRPr>
            </a:pPr>
            <a:r>
              <a:rPr sz="1875" b="1">
                <a:solidFill>
                  <a:srgbClr val="101312"/>
                </a:solidFill>
              </a:rPr>
              <a:t>景观艺术品制作施工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15A6B1-66B0-44F5-9B58-24F84451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05150"/>
            <a:ext cx="1657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06A"/>
                </a:solidFill>
              </a:defRPr>
            </a:pPr>
            <a:r>
              <a:rPr sz="1200" b="0">
                <a:solidFill>
                  <a:srgbClr val="62706A"/>
                </a:solidFill>
              </a:rPr>
              <a:t>面向街区、园区、酒店、生态城市和公共节点，提供雕塑、装置、公共艺术、景观艺术品的概念、深化、制作与施工协同。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87928E-C65C-434D-AB42-B06935E5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00550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8A3B"/>
                </a:solidFill>
              </a:defRPr>
            </a:pPr>
            <a:r>
              <a:rPr sz="1200" b="1">
                <a:solidFill>
                  <a:srgbClr val="078A3B"/>
                </a:solidFill>
              </a:rPr>
              <a:t>公共艺术雕塑方案</a:t>
            </a:r>
          </a:p>
          <a:p xmlns:a="http://schemas.openxmlformats.org/drawingml/2006/main">
            <a:pPr algn="l">
              <a:defRPr sz="1200" b="1">
                <a:solidFill>
                  <a:srgbClr val="078A3B"/>
                </a:solidFill>
              </a:defRPr>
            </a:pPr>
            <a:r>
              <a:rPr sz="1200" b="1">
                <a:solidFill>
                  <a:srgbClr val="078A3B"/>
                </a:solidFill>
              </a:rPr>
              <a:t>景观节点艺术装置</a:t>
            </a:r>
          </a:p>
        </p:txBody>
      </p:sp>
    </p:spTree>
    <p:extLst>
      <p:ext uri="{BB962C8B-B14F-4D97-AF65-F5344CB8AC3E}">
        <p14:creationId xmlns:p14="http://schemas.microsoft.com/office/powerpoint/2010/main" val="15333107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7B37E7-0414-4664-AC6B-69436C11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艺术品销售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4896B-2E8E-4C36-B037-BCC36C5E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帕斯卡画廊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42060-E6A1-4E4D-A123-76524A9D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312"/>
                </a:solidFill>
              </a:defRPr>
            </a:pPr>
            <a:r>
              <a:rPr sz="3150" b="1">
                <a:solidFill>
                  <a:srgbClr val="101312"/>
                </a:solidFill>
              </a:rPr>
              <a:t>艺术品销售：以画廊资源、艺术家资源和策展能力为基础，为商业空间、酒店、文旅目的地和收藏场景提供作品选择、展陈、销售转化与艺术资产配置。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20749-AD79-4B53-BD0D-5313393F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E66A"/>
          </a:solidFill>
          <a:ln xmlns:a="http://schemas.openxmlformats.org/drawingml/2006/main" w="0">
            <a:solidFill>
              <a:srgbClr val="19E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35EB6-CDEF-47C7-9100-646A5667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代表能力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40178-9974-4D8D-9238-65ABFC6E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艺术家与作品资源组织</a:t>
            </a:r>
          </a:p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展览策划与作品销售</a:t>
            </a:r>
          </a:p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酒店与商业空间艺术品配置</a:t>
            </a:r>
          </a:p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收藏与消费场景培育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01937-B5E7-48B6-B366-BA3D35F4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关联项目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CF215-CB52-46AC-B26E-0D0E192B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帕斯卡画廊综合介绍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展览工作计划与画廊合作方案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罗浮宫艺术、展览、活动策划框架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柏典酒店天津样板间艺术品方案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无锡艺术空间与古街更新方案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中新生态城艺术展览概念案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棉三创意街区公共艺术雕塑方案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19204e89849a5"/>
          <a:srcRect xmlns:a="http://schemas.openxmlformats.org/drawingml/2006/main" l="0" t="4395" r="0" b="43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19075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4149809934087"/>
          <a:srcRect xmlns:a="http://schemas.openxmlformats.org/drawingml/2006/main" l="4000" t="0" r="4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0" y="219075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f9df84ea6447b"/>
          <a:srcRect xmlns:a="http://schemas.openxmlformats.org/drawingml/2006/main" l="4000" t="0" r="4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400050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e0025e52f42af"/>
          <a:srcRect xmlns:a="http://schemas.openxmlformats.org/drawingml/2006/main" l="4000" t="0" r="4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0" y="400050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</p:spTree>
    <p:extLst>
      <p:ext uri="{BB962C8B-B14F-4D97-AF65-F5344CB8AC3E}">
        <p14:creationId xmlns:p14="http://schemas.microsoft.com/office/powerpoint/2010/main" val="6239402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6C544C-6F14-412F-9CA7-D8340621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艺术品与场地租赁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A3BB0-5C5A-4FF0-BF54-2DA255E3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帕斯卡画廊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D7145-851E-45D5-8F3B-8CF04FD0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312"/>
                </a:solidFill>
              </a:defRPr>
            </a:pPr>
            <a:r>
              <a:rPr sz="3150" b="1">
                <a:solidFill>
                  <a:srgbClr val="101312"/>
                </a:solidFill>
              </a:rPr>
              <a:t>艺术品与场地租赁：围绕美术馆、艺术空间、商业空间和临时展场，提供艺术内容植入、场地运营、展览落位、艺术品租赁与空间活化。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7D233-8F33-4E8A-98C7-65163B82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E66A"/>
          </a:solidFill>
          <a:ln xmlns:a="http://schemas.openxmlformats.org/drawingml/2006/main" w="0">
            <a:solidFill>
              <a:srgbClr val="19E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BAD66-591A-43ED-9BFD-0ABE91FA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代表能力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D0DED-A1BF-4732-B812-D043D1B7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艺术空间运营</a:t>
            </a:r>
          </a:p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展览与活动落位</a:t>
            </a:r>
          </a:p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艺术品短期租赁与陈列</a:t>
            </a:r>
          </a:p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场地内容化与传播话题制造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32989-461C-4234-92A3-0684B192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关联项目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DC93E-2905-4D4B-A5BE-08311ECE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展览工作计划与画廊合作方案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无锡艺术空间与古街更新方案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团泊艺术空间改造策划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和光美术馆命名与生态艺术定位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团泊洼文旅项目可行性分析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天津中原百货美陈提升概念设计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7d5aaad9c412e"/>
          <a:srcRect xmlns:a="http://schemas.openxmlformats.org/drawingml/2006/main" l="4000" t="0" r="4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19075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0a773fe804092"/>
          <a:srcRect xmlns:a="http://schemas.openxmlformats.org/drawingml/2006/main" l="4000" t="0" r="4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0" y="219075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3e9558102458a"/>
          <a:srcRect xmlns:a="http://schemas.openxmlformats.org/drawingml/2006/main" l="4000" t="0" r="4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400050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a1a12bd2c4d9c"/>
          <a:srcRect xmlns:a="http://schemas.openxmlformats.org/drawingml/2006/main" l="0" t="4395" r="0" b="43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0" y="400050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</p:spTree>
    <p:extLst>
      <p:ext uri="{BB962C8B-B14F-4D97-AF65-F5344CB8AC3E}">
        <p14:creationId xmlns:p14="http://schemas.microsoft.com/office/powerpoint/2010/main" val="3883284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7C028B-A417-4D5B-ACC0-211125E3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文旅项目策划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41979-8B1B-46C7-AEF3-91F9E1F1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帕斯卡画廊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D11C7-1E6A-4E6F-A7EF-C4AAA63A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312"/>
                </a:solidFill>
              </a:defRPr>
            </a:pPr>
            <a:r>
              <a:rPr sz="3150" b="1">
                <a:solidFill>
                  <a:srgbClr val="101312"/>
                </a:solidFill>
              </a:rPr>
              <a:t>文旅项目策划：将地方文化、生态资源、公共活动和艺术内容整合成可传播、可体验、可运营的文旅项目。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25879-EA56-46C4-B60A-A17AA066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E66A"/>
          </a:solidFill>
          <a:ln xmlns:a="http://schemas.openxmlformats.org/drawingml/2006/main" w="0">
            <a:solidFill>
              <a:srgbClr val="19E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7C991-4119-4431-B5EF-1EE5A64A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代表能力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698CB-CA9E-4AE7-973F-E6E0DAA4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文旅定位与产品体系</a:t>
            </a:r>
          </a:p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活动策划与节庆设计</a:t>
            </a:r>
          </a:p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研学与美育内容</a:t>
            </a:r>
          </a:p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城市文化传播与 IP 延展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E557D-F92B-4452-88E0-79AB5C12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关联项目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060F1-2346-4A9B-9F07-B64D4E8C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帕斯卡画廊综合介绍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展览工作计划与画廊合作方案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罗浮宫艺术、展览、活动策划框架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团泊艺术空间改造策划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和光美术馆命名与生态艺术定位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团泊洼文旅项目可行性分析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中新生态城艺术展览概念案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全国青少年无人机大赛传播与 IP 衍生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短视频现场资料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478c57ced4ab5"/>
          <a:srcRect xmlns:a="http://schemas.openxmlformats.org/drawingml/2006/main" l="0" t="4395" r="0" b="43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19075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bd03060ce4d45"/>
          <a:srcRect xmlns:a="http://schemas.openxmlformats.org/drawingml/2006/main" l="4000" t="0" r="4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0" y="219075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f7665151448b6"/>
          <a:srcRect xmlns:a="http://schemas.openxmlformats.org/drawingml/2006/main" l="4000" t="0" r="4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400050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51fae0d0a4cae"/>
          <a:srcRect xmlns:a="http://schemas.openxmlformats.org/drawingml/2006/main" l="4000" t="0" r="4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0" y="400050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</p:spTree>
    <p:extLst>
      <p:ext uri="{BB962C8B-B14F-4D97-AF65-F5344CB8AC3E}">
        <p14:creationId xmlns:p14="http://schemas.microsoft.com/office/powerpoint/2010/main" val="1338118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AC03A8-32AB-4C00-A507-4541FB3F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1B69A-C5F7-472F-B249-65E317BB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帕斯卡画廊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ADC1E-4685-40AB-ADFD-A467E2AE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312"/>
                </a:solidFill>
              </a:defRPr>
            </a:pPr>
            <a:r>
              <a:rPr sz="3150" b="1">
                <a:solidFill>
                  <a:srgbClr val="101312"/>
                </a:solidFill>
              </a:rPr>
              <a:t>设计：覆盖商业美陈、艺术空间改造、展览视觉、品牌活动和文化场景设计，把艺术内容转化为可落地的视觉与空间体验。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715C0-FA4D-419C-872A-2DF2B0FD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E66A"/>
          </a:solidFill>
          <a:ln xmlns:a="http://schemas.openxmlformats.org/drawingml/2006/main" w="0">
            <a:solidFill>
              <a:srgbClr val="19E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FDF01-D9B7-4B6F-A61A-F775F2B7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代表能力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D8101-7D8E-4173-8B7A-27AAB1FE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空间概念设计</a:t>
            </a:r>
          </a:p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商业美陈提升</a:t>
            </a:r>
          </a:p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展览视觉系统</a:t>
            </a:r>
          </a:p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IP 衍生品与传播物料设计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16540-31CD-4AD4-8A25-B8FEB8FF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关联项目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A03D6-CEBB-426C-B7CC-8C038A2D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帕斯卡画廊综合介绍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展览工作计划与画廊合作方案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罗浮宫艺术、展览、活动策划框架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柏典酒店天津样板间艺术品方案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无锡艺术空间与古街更新方案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团泊艺术空间改造策划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和光美术馆命名与生态艺术定位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团泊洼文旅项目可行性分析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中新生态城艺术展览概念案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全国青少年无人机大赛传播与 IP 衍生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天津中原百货美陈提升概念设计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棉三创意街区公共艺术雕塑方案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短视频现场资料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769e76b9a48e1"/>
          <a:srcRect xmlns:a="http://schemas.openxmlformats.org/drawingml/2006/main" l="0" t="4395" r="0" b="43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19075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b5fed36e845a2"/>
          <a:srcRect xmlns:a="http://schemas.openxmlformats.org/drawingml/2006/main" l="4000" t="0" r="4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0" y="219075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a5735800c49f5"/>
          <a:srcRect xmlns:a="http://schemas.openxmlformats.org/drawingml/2006/main" l="4000" t="0" r="4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400050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52537a5c34f5b"/>
          <a:srcRect xmlns:a="http://schemas.openxmlformats.org/drawingml/2006/main" l="4000" t="0" r="4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0" y="400050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</p:spTree>
    <p:extLst>
      <p:ext uri="{BB962C8B-B14F-4D97-AF65-F5344CB8AC3E}">
        <p14:creationId xmlns:p14="http://schemas.microsoft.com/office/powerpoint/2010/main" val="20257911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DFA2D0-59AA-448C-8CE6-51D9B861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景观艺术品制作施工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B097E-7B1D-43A8-995C-41433A3B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帕斯卡画廊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1BBB5-8D8D-4316-B376-37664CC4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312"/>
                </a:solidFill>
              </a:defRPr>
            </a:pPr>
            <a:r>
              <a:rPr sz="3150" b="1">
                <a:solidFill>
                  <a:srgbClr val="101312"/>
                </a:solidFill>
              </a:rPr>
              <a:t>景观艺术品制作施工：面向街区、园区、酒店、生态城市和公共节点，提供雕塑、装置、公共艺术、景观艺术品的概念、深化、制作与施工协同。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79224-800F-4571-9DA4-85E167EF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E66A"/>
          </a:solidFill>
          <a:ln xmlns:a="http://schemas.openxmlformats.org/drawingml/2006/main" w="0">
            <a:solidFill>
              <a:srgbClr val="19E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9D539-294F-4723-A916-6E060D45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代表能力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C69D3-1A10-4C71-9D2C-7C511F1E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公共艺术雕塑方案</a:t>
            </a:r>
          </a:p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景观节点艺术装置</a:t>
            </a:r>
          </a:p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材料与工艺建议</a:t>
            </a:r>
          </a:p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制作施工协同与现场呈现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4878E-B8A1-40DC-AEBA-3FB54BD8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关联项目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4967C-EED9-4198-A1A8-5C76303C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柏典酒店天津样板间艺术品方案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团泊洼文旅项目可行性分析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中新生态城艺术展览概念案</a:t>
            </a:r>
          </a:p>
          <a:p xmlns:a="http://schemas.openxmlformats.org/drawingml/2006/main">
            <a:pPr algn="l">
              <a:defRPr sz="1350" b="0">
                <a:solidFill>
                  <a:srgbClr val="62706A"/>
                </a:solidFill>
              </a:defRPr>
            </a:pPr>
            <a:r>
              <a:rPr sz="1350" b="0">
                <a:solidFill>
                  <a:srgbClr val="62706A"/>
                </a:solidFill>
              </a:rPr>
              <a:t>· 棉三创意街区公共艺术雕塑方案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0f1bf81c14c9e"/>
          <a:srcRect xmlns:a="http://schemas.openxmlformats.org/drawingml/2006/main" l="13818" t="0" r="138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19075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380f458994f4a"/>
          <a:srcRect xmlns:a="http://schemas.openxmlformats.org/drawingml/2006/main" l="0" t="39188" r="0" b="39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0" y="219075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cef26afdd428c"/>
          <a:srcRect xmlns:a="http://schemas.openxmlformats.org/drawingml/2006/main" l="4000" t="0" r="4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400050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9c7997df04901"/>
          <a:srcRect xmlns:a="http://schemas.openxmlformats.org/drawingml/2006/main" l="13818" t="0" r="138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0" y="4000500"/>
            <a:ext cx="2571750" cy="1571625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</p:spTree>
    <p:extLst>
      <p:ext uri="{BB962C8B-B14F-4D97-AF65-F5344CB8AC3E}">
        <p14:creationId xmlns:p14="http://schemas.microsoft.com/office/powerpoint/2010/main" val="14105764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E14301-59F2-4808-AD1C-5752E316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项目案例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23426-087A-4DC2-99EB-B348C193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帕斯卡画廊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664DA-D464-434F-ADD4-59C6F6CA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312"/>
                </a:solidFill>
              </a:defRPr>
            </a:pPr>
            <a:r>
              <a:rPr sz="3150" b="1">
                <a:solidFill>
                  <a:srgbClr val="101312"/>
                </a:solidFill>
              </a:rPr>
              <a:t>帕斯卡画廊综合介绍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A2699-53E3-4FCB-8BF3-3093486B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E66A"/>
          </a:solidFill>
          <a:ln xmlns:a="http://schemas.openxmlformats.org/drawingml/2006/main" w="0">
            <a:solidFill>
              <a:srgbClr val="19E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14B79-16BE-4135-A00D-F15C56A1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资料强调画廊是城市文化风景，也是艺术消费、艺术家合作和城市文化升级的连接器。内容包含画廊定位、策展人和艺术家资源、藏品展、在地性项目和城市文化论述。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B0CF4-F75C-4086-908A-9CBA24CE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主要工作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6A3AE-0407-4164-B487-AC2BF17C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以高素质艺术消费人群和城市文化风景为叙事入口，说明画廊在城市更新与文化消费中的价值。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呈现三三藏品展、策展人资源、艺术家资源和“在地性”表达，适合作为艺术品销售和合作背书。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可用于网站首页的机构介绍、艺术资源介绍和商业合作说明。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1E773-B10D-4FDB-9F12-060D7643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来源：帕斯卡画廊(1)_加水印.pdf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17179f708473b"/>
          <a:srcRect xmlns:a="http://schemas.openxmlformats.org/drawingml/2006/main" l="0" t="2701" r="0" b="27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2000250"/>
            <a:ext cx="4057650" cy="257175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417FE-253F-4680-9CDC-AB3AA8C1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画廊定位说明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0BD89-0265-4E14-8CE8-3B9D5042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艺术家与策展资源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6E109-C708-43C1-8386-0C3E53AA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展览与藏品展示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10A78-DDF6-44D4-8F21-3E53F691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艺术消费场景叙事</a:t>
            </a:r>
          </a:p>
        </p:txBody>
      </p:sp>
    </p:spTree>
    <p:extLst>
      <p:ext uri="{BB962C8B-B14F-4D97-AF65-F5344CB8AC3E}">
        <p14:creationId xmlns:p14="http://schemas.microsoft.com/office/powerpoint/2010/main" val="11856086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196370-0096-419F-A250-FCABA40A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项目案例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2A28A-CAAA-4660-945B-96CD3639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帕斯卡画廊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9BD78-FA09-4C39-934D-14944FED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312"/>
                </a:solidFill>
              </a:defRPr>
            </a:pPr>
            <a:r>
              <a:rPr sz="3150" b="1">
                <a:solidFill>
                  <a:srgbClr val="101312"/>
                </a:solidFill>
              </a:rPr>
              <a:t>展览工作计划与画廊合作方案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88E54-BB29-4D76-9FE4-26A42708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E66A"/>
          </a:solidFill>
          <a:ln xmlns:a="http://schemas.openxmlformats.org/drawingml/2006/main" w="0">
            <a:solidFill>
              <a:srgbClr val="19E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DC2DF-5E80-4EC6-99BF-3AC45BA3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资料围绕展览前期策划、展场条件、展品预算、策展周期、展墙和灯光、展厅监控安保、展览方案和预算展开，体现画廊承接展览和场地合作的完整工作方法。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C487E-4088-4EDB-B9BF-DC4FB957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主要工作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D4641-1246-482A-8F0E-030FCED1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展览方案包含潮流艺术展、夜晚灯光秀、暗黑系展、儿童美术展等方向。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明确场地选择、展线长度、展墙材质、灯光设计、库房和运输物流等落地条件。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资料展示画廊与园区合作的优势、案例与预算结构，可支撑对外招商和场地租赁沟通。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EE131-EA27-4F27-8990-1FB7D0C8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来源：2023.2 展览工作计划完整版(1).pptx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d98254e994914"/>
          <a:srcRect xmlns:a="http://schemas.openxmlformats.org/drawingml/2006/main" l="5647" t="0" r="56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2000250"/>
            <a:ext cx="4057650" cy="257175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22B47-EC58-44E4-BCD6-3A3BC611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展览前期策划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E91D3-71D9-4536-8736-9F04FAD9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展陈条件清单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C006D-B215-49A1-883B-E6A36774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展览主题方案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B8C80-3FB3-4D5E-9293-6B2C4265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预算与执行周期</a:t>
            </a:r>
          </a:p>
        </p:txBody>
      </p:sp>
    </p:spTree>
    <p:extLst>
      <p:ext uri="{BB962C8B-B14F-4D97-AF65-F5344CB8AC3E}">
        <p14:creationId xmlns:p14="http://schemas.microsoft.com/office/powerpoint/2010/main" val="5028626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2ADB74-EE24-4FCF-ADAA-1122E2FF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项目案例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BCF5E-5A55-4871-AA16-06611D1A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帕斯卡画廊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9BF87-7DB0-4878-B257-DA4A99D7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312"/>
                </a:solidFill>
              </a:defRPr>
            </a:pPr>
            <a:r>
              <a:rPr sz="3150" b="1">
                <a:solidFill>
                  <a:srgbClr val="101312"/>
                </a:solidFill>
              </a:rPr>
              <a:t>罗浮宫艺术、展览、活动策划框架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633F7-0A6A-4F15-9717-873B115E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E66A"/>
          </a:solidFill>
          <a:ln xmlns:a="http://schemas.openxmlformats.org/drawingml/2006/main" w="0">
            <a:solidFill>
              <a:srgbClr val="19E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7373B-4F69-43F1-8FBD-68FC4BE9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252 页资料系统梳理艺术资源、作品类别、展览预案、文化沙龙、品牌活动和合作方式，是艺术品销售、活动策划和高端空间艺术合作的完整资源库。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CCB39-EFD5-43F9-8364-ECE1766E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主要工作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A3C81-647F-4109-90D3-F61D7F30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艺术资源包含国内外高等艺术院校、著名艺术家、画廊机构、艺术协会、博览会和多国文化资源。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作品类型覆盖具象、抽象、雕塑、材料语言、新水墨、摄影、版画等，适合不同商业空间与收藏需求。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框架把艺术品、展览、文化沙龙和品牌活动放在同一合作体系中，适合高端商业、酒店和文旅场景。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9B793-D747-43BF-81F8-7CA2F81B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来源：罗浮宫 艺术、展览、活动策划 概念框架方案（1）.pptx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1cc986bdc4ff1"/>
          <a:srcRect xmlns:a="http://schemas.openxmlformats.org/drawingml/2006/main" l="0" t="225" r="0" b="2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2000250"/>
            <a:ext cx="4057650" cy="257175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D4133-6531-4DD2-A977-80998E9B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艺术资源库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53449-0D93-4E4F-BF89-B03201EF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作品类型库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4318E-4F37-44CA-8261-3912AACF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展览预案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9C883-A2EC-4D81-A7CA-7E1F8E19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文化沙龙与品牌活动方案</a:t>
            </a:r>
          </a:p>
        </p:txBody>
      </p:sp>
    </p:spTree>
    <p:extLst>
      <p:ext uri="{BB962C8B-B14F-4D97-AF65-F5344CB8AC3E}">
        <p14:creationId xmlns:p14="http://schemas.microsoft.com/office/powerpoint/2010/main" val="9754062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C882B8-0B55-43DF-8A57-85DAD4D2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项目案例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93E86-93A8-403D-8D5E-BEE4029E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帕斯卡画廊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DA4DD-DD61-4738-B52B-04CD8176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312"/>
                </a:solidFill>
              </a:defRPr>
            </a:pPr>
            <a:r>
              <a:rPr sz="3150" b="1">
                <a:solidFill>
                  <a:srgbClr val="101312"/>
                </a:solidFill>
              </a:rPr>
              <a:t>柏典酒店天津样板间艺术品方案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BBEE2-C76C-4799-A199-FA91CCE2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E66A"/>
          </a:solidFill>
          <a:ln xmlns:a="http://schemas.openxmlformats.org/drawingml/2006/main" w="0">
            <a:solidFill>
              <a:srgbClr val="19E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F0049-244D-4AD2-8F2E-E6882E89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方案以天津历史、意大利文化和酒店空间为背景，提出样板间、走廊、入户厅堂、客房走廊等区域的艺术品配置。作品媒介包含布面丙烯、布上油画、综合材料等。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977E5-2EDE-4A18-9D4E-1D1D2408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主要工作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D145F-B0AF-4A89-BF6B-F820CF2F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用天津开埠、五大道、意租界、北洋机器局等城市线索建立酒店艺术叙事。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针对走廊、休息区、客房与入户空间给出作品陈列和空间氛围建议。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体现艺术品销售、租赁、酒店空间艺术配置和定制艺术品落地能力。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ECB92-6916-4693-B382-AAE527F2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来源：柏典tianjin.pptx / 柏典tianjin.pdf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4d9a371444908"/>
          <a:srcRect xmlns:a="http://schemas.openxmlformats.org/drawingml/2006/main" l="15114" t="0" r="151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2000250"/>
            <a:ext cx="4057650" cy="257175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9830F-6F4B-48F2-948F-999FD7FD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酒店艺术品配置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3715D-AC14-42DB-955D-31C93FB4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空间分区陈列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2B9CB-52C1-44E4-915C-463E9FBA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作品媒介与尺寸建议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68ACC-D79A-4E43-88EC-A618868E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城市文化叙事</a:t>
            </a:r>
          </a:p>
        </p:txBody>
      </p:sp>
    </p:spTree>
    <p:extLst>
      <p:ext uri="{BB962C8B-B14F-4D97-AF65-F5344CB8AC3E}">
        <p14:creationId xmlns:p14="http://schemas.microsoft.com/office/powerpoint/2010/main" val="9828216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092937-5B31-49F2-B1F9-4E81A907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项目案例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CD094-6952-436E-8E42-A5987A5B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帕斯卡画廊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435F7-C21D-4BB4-8AA3-2A1B4459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312"/>
                </a:solidFill>
              </a:defRPr>
            </a:pPr>
            <a:r>
              <a:rPr sz="3150" b="1">
                <a:solidFill>
                  <a:srgbClr val="101312"/>
                </a:solidFill>
              </a:rPr>
              <a:t>无锡艺术空间与古街更新方案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04576-0E92-40BA-B467-4DC6A079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E66A"/>
          </a:solidFill>
          <a:ln xmlns:a="http://schemas.openxmlformats.org/drawingml/2006/main" w="0">
            <a:solidFill>
              <a:srgbClr val="19E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F0019-A13D-4575-8631-8861DABF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方案以惠山古街的千年文脉、宗祠文化和文人雅趣为背景，提出用画廊、书店、咖啡馆、餐吧等公共空间塑造年轻态消费氛围。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DE828-C116-4386-B717-6DCB855F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主要工作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F0E13-B9C3-4A50-A60C-01B0CA9A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强调城市更新不只是物质形态变化，更要吸引年轻消费群体并带动业态更新。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把画廊定义为城市更新中的文化亮色，具备制造话题、吸引流量、提升区域文化的价值。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提出在地性艺术创作和艺术空间运营，为未来艺术节、艺术季和全域文化活动做铺垫。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C3F81-8612-44B4-8EFE-729B1FF7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来源：无锡NEW空间.pptx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0ea2c46cc4238"/>
          <a:srcRect xmlns:a="http://schemas.openxmlformats.org/drawingml/2006/main" l="0" t="5505" r="0" b="55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2000250"/>
            <a:ext cx="4057650" cy="257175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94514-167B-40EA-82A9-DB005069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艺术空间定位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7895A-642D-478A-A18F-CB943B96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业态组合建议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A171C-1DE0-48FC-A07F-05C148A5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在地性艺术策略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06F4E-F53E-4B1F-B8F2-397B2E33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古街文化更新叙事</a:t>
            </a:r>
          </a:p>
        </p:txBody>
      </p:sp>
    </p:spTree>
    <p:extLst>
      <p:ext uri="{BB962C8B-B14F-4D97-AF65-F5344CB8AC3E}">
        <p14:creationId xmlns:p14="http://schemas.microsoft.com/office/powerpoint/2010/main" val="4969408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FB5724-9B5B-4972-83B1-3F68CC94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项目案例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AD9AA-9FC8-4023-81DB-B810BCD7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帕斯卡画廊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7D23B-AFDA-437F-9068-27B145A2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312"/>
                </a:solidFill>
              </a:defRPr>
            </a:pPr>
            <a:r>
              <a:rPr sz="3150" b="1">
                <a:solidFill>
                  <a:srgbClr val="101312"/>
                </a:solidFill>
              </a:rPr>
              <a:t>团泊艺术空间改造策划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B37A2-A55F-4BC3-A831-200FF572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E66A"/>
          </a:solidFill>
          <a:ln xmlns:a="http://schemas.openxmlformats.org/drawingml/2006/main" w="0">
            <a:solidFill>
              <a:srgbClr val="19E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C5CBE-97F8-4123-9115-BC5D7200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方案围绕团泊艺术空间改造，提出以运营为导向的强内容目的地，通过自然环境、青少年交流、大学合作、美育游学和艺术家驻留形成空间内容。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80D14-F085-4DE2-A13C-72E90949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主要工作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42637-BC80-42D5-810B-495C6A67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指出项目有自然、有场地，但缺少文质、静愈叙事和可传播的文化项目。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提出以艺术空间运营、内容策划和建筑升级绑定自然环境，形成强记忆点。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可承接游学、美育、校企合作、实训基地、艺术家驻留和空间租赁等多种运营模式。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F5D70-EADD-435E-8047-19D545EF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来源：2025.05.20-团泊艺术空间 xu.pptx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2cc3d197e4c02"/>
          <a:srcRect xmlns:a="http://schemas.openxmlformats.org/drawingml/2006/main" l="0" t="26257" r="0" b="262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2000250"/>
            <a:ext cx="4057650" cy="257175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D838E-9B35-4A61-8EE1-97713441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空间改造策划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7B306-29F2-442E-88D1-78F71E52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运营内容植入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3E0A1-6248-49B3-95B8-9F4A5030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美育游学体系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6555E-F3E6-4435-A178-DE579E89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艺术家驻留项目</a:t>
            </a:r>
          </a:p>
        </p:txBody>
      </p:sp>
    </p:spTree>
    <p:extLst>
      <p:ext uri="{BB962C8B-B14F-4D97-AF65-F5344CB8AC3E}">
        <p14:creationId xmlns:p14="http://schemas.microsoft.com/office/powerpoint/2010/main" val="1518505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8EDB92-FC15-4920-BABC-BEBCE43C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项目案例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35264-3AEA-4BE5-A64C-BE252FC4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帕斯卡画廊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A1DDF-2615-4AF1-8272-854AF570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312"/>
                </a:solidFill>
              </a:defRPr>
            </a:pPr>
            <a:r>
              <a:rPr sz="3150" b="1">
                <a:solidFill>
                  <a:srgbClr val="101312"/>
                </a:solidFill>
              </a:rPr>
              <a:t>和光美术馆命名与生态艺术定位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D9B9B-A4EE-48D1-BA4E-007DA000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E66A"/>
          </a:solidFill>
          <a:ln xmlns:a="http://schemas.openxmlformats.org/drawingml/2006/main" w="0">
            <a:solidFill>
              <a:srgbClr val="19E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141EA-3D35-4143-97A6-FC020D87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资料从“和光美术馆”的命名解析出发，建立生态、艺术与在地性和谐共生的空间定位，并提出建筑、视觉系统和商业衍生方向。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D9D60-D55B-4EB6-BB1B-1A79934F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主要工作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39E7D-F9B2-428C-B218-72192627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“和”对应生态和谐与文化共融，“光”对应自然之光和艺术之光。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名称与光合谷项目形成呼应，可延展为和光市集、和光艺术节等子品牌。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提出透光光伏玻璃幕墙、中庭湿地植物、光字水波纹与叶脉视觉系统等设计策略。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01F82-A07A-4809-B5A1-5E31BC06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来源：和光美术馆.docx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42c9287bc42a3"/>
          <a:srcRect xmlns:a="http://schemas.openxmlformats.org/drawingml/2006/main" l="6742" t="0" r="67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2000250"/>
            <a:ext cx="4057650" cy="257175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CB426-7B6D-4658-8FA1-49FA1D33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美术馆命名策略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78DD5-7552-4365-9C90-7D014302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生态艺术定位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323BB-DC48-4E4B-9F49-94F96481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视觉系统方向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49480-C417-422A-B5E9-6E4FCA8F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文旅与商业衍生建议</a:t>
            </a:r>
          </a:p>
        </p:txBody>
      </p:sp>
    </p:spTree>
    <p:extLst>
      <p:ext uri="{BB962C8B-B14F-4D97-AF65-F5344CB8AC3E}">
        <p14:creationId xmlns:p14="http://schemas.microsoft.com/office/powerpoint/2010/main" val="20731824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38E508-903D-46E3-82AC-BF918D29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项目案例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15B9D-70AA-4C86-9A4E-71AB9323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帕斯卡画廊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036CB-5FF0-4A0A-912E-EABF0654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312"/>
                </a:solidFill>
              </a:defRPr>
            </a:pPr>
            <a:r>
              <a:rPr sz="3150" b="1">
                <a:solidFill>
                  <a:srgbClr val="101312"/>
                </a:solidFill>
              </a:rPr>
              <a:t>团泊洼文旅项目可行性分析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973C8-C676-4F7B-A2B3-6BA5B804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E66A"/>
          </a:solidFill>
          <a:ln xmlns:a="http://schemas.openxmlformats.org/drawingml/2006/main" w="0">
            <a:solidFill>
              <a:srgbClr val="19E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8507C-C4F5-4146-A6E8-1B5AFA55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138 页资料包含项目背景、愿景、案例分析、SWOT、规划理念、产品构成、总体设计、游线服务、交通、景观、节庆、研学、农庄和汽车市集等内容。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40686-CF63-4553-B06B-A6B0B4D8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主要工作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96688-83CE-414E-9E2F-F224D7CC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提出“一文一野”的整体布局，强调郊野休闲营地和产业差异化。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工作框架覆盖资料收集、现场踏勘、规划解读、宏观研判、产品构成和总体设计。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可形成文化项目、节庆活动、研学项目、农庄定制、汽车市集和绿色基础设施等复合产品。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20A3B-FB0D-4F5C-8A2F-A497B53F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来源：2022.8.23团泊洼文旅项目可行性分析.pptx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74c121f384c5c"/>
          <a:srcRect xmlns:a="http://schemas.openxmlformats.org/drawingml/2006/main" l="0" t="2385" r="0" b="23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2000250"/>
            <a:ext cx="4057650" cy="257175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1BA8B-6ABD-4832-ACAF-808B2771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可行性分析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4DE9C-57C4-4CC1-BE06-0929D759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文旅产品体系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8C1E7-67DB-4E88-8EC5-4A24EC0C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游线与交通规划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33320-92BF-4125-8E60-C43F533D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景观规划与节庆设计</a:t>
            </a:r>
          </a:p>
        </p:txBody>
      </p:sp>
    </p:spTree>
    <p:extLst>
      <p:ext uri="{BB962C8B-B14F-4D97-AF65-F5344CB8AC3E}">
        <p14:creationId xmlns:p14="http://schemas.microsoft.com/office/powerpoint/2010/main" val="17820040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2AD06E-094A-41A8-898B-D7F62F8B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项目案例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39B8A-CFA2-4F75-BF12-47E08AF6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帕斯卡画廊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7ABB3-D480-473C-800C-5D5EDE22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312"/>
                </a:solidFill>
              </a:defRPr>
            </a:pPr>
            <a:r>
              <a:rPr sz="3150" b="1">
                <a:solidFill>
                  <a:srgbClr val="101312"/>
                </a:solidFill>
              </a:rPr>
              <a:t>中新生态城艺术展览概念案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E83E4-7C0F-4A7C-B7BC-A1DCC031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E66A"/>
          </a:solidFill>
          <a:ln xmlns:a="http://schemas.openxmlformats.org/drawingml/2006/main" w="0">
            <a:solidFill>
              <a:srgbClr val="19E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63A53-C057-4C00-8E4E-720871BF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方案以中新天津生态城从盐碱荒滩到绿色新城的转变为背景，提出“咸土之上—生态、城市、未来”的展览主题。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AA1C3-D9B6-495A-9165-71C5E517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主要工作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46754-B6B0-45FE-A490-063779EB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以盐碱地为叙事起点，聚焦自然与城市共生、生态修复和未来人居想象。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通过艺术表达、科技呈现与在地叙事融合，让观众看见生态韧性与城市生长。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作品类型和宣推延展可服务生态城市展示、公共艺术、文旅传播和艺术品合作。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AB030-025B-43EA-9A0F-038AC6D4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来源：中新生态城(xu).pptx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817815e7f4487"/>
          <a:srcRect xmlns:a="http://schemas.openxmlformats.org/drawingml/2006/main" l="2579" t="0" r="25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2000250"/>
            <a:ext cx="4057650" cy="257175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B2A67-A550-4B06-B2B2-F684ABFB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展览主题策划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A0BDA2-7953-4579-B13E-75C055D6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生态城市叙事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B6459-292E-4226-B1F5-04ABC1EA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艺术作品类型建议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A9CB4-2F12-4FF7-8C53-D5E6256A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宣推与延展</a:t>
            </a:r>
          </a:p>
        </p:txBody>
      </p:sp>
    </p:spTree>
    <p:extLst>
      <p:ext uri="{BB962C8B-B14F-4D97-AF65-F5344CB8AC3E}">
        <p14:creationId xmlns:p14="http://schemas.microsoft.com/office/powerpoint/2010/main" val="13568414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89AAA8-8B9A-4BCF-9CC8-D4835EFB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项目案例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EB935-4196-4B64-BCDE-1D27F816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帕斯卡画廊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2E233-DB43-4002-B5D7-E803125D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312"/>
                </a:solidFill>
              </a:defRPr>
            </a:pPr>
            <a:r>
              <a:rPr sz="3150" b="1">
                <a:solidFill>
                  <a:srgbClr val="101312"/>
                </a:solidFill>
              </a:rPr>
              <a:t>全国青少年无人机大赛传播与 IP 衍生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63AB6-BD9D-434A-B6B5-5E3F340F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E66A"/>
          </a:solidFill>
          <a:ln xmlns:a="http://schemas.openxmlformats.org/drawingml/2006/main" w="0">
            <a:solidFill>
              <a:srgbClr val="19E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2C125-EEF6-4388-B423-FF4F8488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方案以“让大赛被传播、被记住、被回味”为目标，将城市文化与大赛精神双向赋能，提出“梦津津”IP 与衍生品方向。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764C1-0C5E-4609-9233-77256BE3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主要工作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A70C8-ACD6-45E2-A901-96926011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从人类对飞行的向往切入，将无人机大赛转化为可感知的城市文化记忆。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提出体验需要锚点、情感需要容器、记忆需要传播者的 IP 逻辑。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通过吉祥物、衍生品和传播物料，把赛事体验变成实体记忆和持续传播内容。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E4861-DCB8-4E7F-A817-BC19D687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来源：让大赛被传播(1).pptx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3ab578bb34fd0"/>
          <a:srcRect xmlns:a="http://schemas.openxmlformats.org/drawingml/2006/main" l="0" t="1659" r="0" b="16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2000250"/>
            <a:ext cx="4057650" cy="257175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5D26C-C936-4F68-9E63-848A4563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赛事传播策略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36025-5398-452C-A757-F1E2C6F0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城市文化 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01215-B6B2-416F-9D41-7E750278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衍生品概念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13CAC-DE40-4FCE-A05C-FA795940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视觉设计过程</a:t>
            </a:r>
          </a:p>
        </p:txBody>
      </p:sp>
    </p:spTree>
    <p:extLst>
      <p:ext uri="{BB962C8B-B14F-4D97-AF65-F5344CB8AC3E}">
        <p14:creationId xmlns:p14="http://schemas.microsoft.com/office/powerpoint/2010/main" val="20514619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7E6579-6230-4F1D-8ED4-E1A378FE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项目案例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2312D-4682-4408-A56E-389470F5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帕斯卡画廊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C8F58-4B73-4F4D-A40D-3399B29D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312"/>
                </a:solidFill>
              </a:defRPr>
            </a:pPr>
            <a:r>
              <a:rPr sz="3150" b="1">
                <a:solidFill>
                  <a:srgbClr val="101312"/>
                </a:solidFill>
              </a:rPr>
              <a:t>天津中原百货美陈提升概念设计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0A179-2C9C-41E9-BACD-E33C0F9F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E66A"/>
          </a:solidFill>
          <a:ln xmlns:a="http://schemas.openxmlformats.org/drawingml/2006/main" w="0">
            <a:solidFill>
              <a:srgbClr val="19E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29598-8BD4-45D4-AD45-70F3BA4F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方案围绕天津中原百货的场地现状和商业美陈提升，提出两个概念设计方向，并配合灵感来源、手绘稿和空间效果表达。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BC334-B559-4629-9FBC-2E92D6FC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主要工作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DD6F9-73B1-43CB-8971-9ABF9EBF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资料包含场地现状、概念设计方案、灵感来源、手绘稿和改造后效果。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以商业空间美陈为切入，强调视觉更新、空间体验和消费场景提升。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旧版设计理念文件因格式限制无法完整抽取文字，但与新版美陈方案共同归入设计服务。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BA10F-4645-4374-A5BF-70117E0A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来源：天津中原百货美陈提升概念设计方案.pptx / xu中原百货设计理念.ppt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bb8fd05a847c7"/>
          <a:srcRect xmlns:a="http://schemas.openxmlformats.org/drawingml/2006/main" l="0" t="7779" r="0" b="77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2000250"/>
            <a:ext cx="4057650" cy="257175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C5E61-5C78-4193-A823-9E0E4085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场地现状分析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DB5EC-6325-4951-A28A-78A29ACB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美陈概念设计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88C8CC-FA9A-4E04-BBFD-9FE6ECD8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手绘稿与效果表达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0023D-980E-49CF-97FE-EB7F87B0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商业空间视觉提升</a:t>
            </a:r>
          </a:p>
        </p:txBody>
      </p:sp>
    </p:spTree>
    <p:extLst>
      <p:ext uri="{BB962C8B-B14F-4D97-AF65-F5344CB8AC3E}">
        <p14:creationId xmlns:p14="http://schemas.microsoft.com/office/powerpoint/2010/main" val="20739580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33F380-BCBD-4593-A5F9-B4CF6E34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项目案例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18B2D-CC65-4300-8E2C-744E2E67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帕斯卡画廊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5E173-5230-4F79-B1DE-A31FB878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312"/>
                </a:solidFill>
              </a:defRPr>
            </a:pPr>
            <a:r>
              <a:rPr sz="3150" b="1">
                <a:solidFill>
                  <a:srgbClr val="101312"/>
                </a:solidFill>
              </a:rPr>
              <a:t>棉三创意街区公共艺术雕塑方案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83ADB-61AD-48BB-907B-AFA21F7C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E66A"/>
          </a:solidFill>
          <a:ln xmlns:a="http://schemas.openxmlformats.org/drawingml/2006/main" w="0">
            <a:solidFill>
              <a:srgbClr val="19E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C8F64-BB88-4378-AFDF-C3A7AC4E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方案围绕棉3创意街区的工业遗存和海河东岸文旅场景，提出公共艺术雕塑概念、故事、灵感、艺术概念、艺术品案例和线下展览。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18A9F-B80A-46A6-BA62-B1DFB337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主要工作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F929E-40A7-4CA4-A5D6-482F0BE0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街区保留大量工业建筑群，形成独特工业风景观，方案以“破茧成蝶”“变锈为秀”等概念回应更新语境。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内容包含作品征集、设计师、艺术品案例、艺术展览和公共艺术概念补充。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可服务公共艺术雕塑、景观节点装置、艺术展览联动和制作施工协同。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92849-3D0F-4C06-B96E-35CE93FB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来源：棉三雕塑.pptx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94bb9b2d04b41"/>
          <a:srcRect xmlns:a="http://schemas.openxmlformats.org/drawingml/2006/main" l="0" t="21820" r="0" b="218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2000250"/>
            <a:ext cx="4057650" cy="257175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50F7C-2D8A-4C00-88DD-80D462E3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公共艺术雕塑概念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B2F75-342E-4DCF-999E-63496561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艺术品案例库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3CB97-3910-440C-9837-202366CC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线下展览方案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8844E-22DE-47E2-9EBD-EF586A9C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制作施工方向</a:t>
            </a:r>
          </a:p>
        </p:txBody>
      </p:sp>
    </p:spTree>
    <p:extLst>
      <p:ext uri="{BB962C8B-B14F-4D97-AF65-F5344CB8AC3E}">
        <p14:creationId xmlns:p14="http://schemas.microsoft.com/office/powerpoint/2010/main" val="56766470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70A7BC-3ECC-492E-A228-8964190D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项目案例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E8DDE-2A8C-496D-9D57-1B7D58AC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帕斯卡画廊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60EE0-399A-4B76-96C3-33EDCFAA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312"/>
                </a:solidFill>
              </a:defRPr>
            </a:pPr>
            <a:r>
              <a:rPr sz="3150" b="1">
                <a:solidFill>
                  <a:srgbClr val="101312"/>
                </a:solidFill>
              </a:rPr>
              <a:t>短视频现场资料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3AEEF-3978-477D-BAF5-638681D0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E66A"/>
          </a:solidFill>
          <a:ln xmlns:a="http://schemas.openxmlformats.org/drawingml/2006/main" w="0">
            <a:solidFill>
              <a:srgbClr val="19E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E789E-25DB-42D6-947F-05173681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6A"/>
                </a:solidFill>
              </a:defRPr>
            </a:pPr>
            <a:r>
              <a:rPr sz="1500" b="0">
                <a:solidFill>
                  <a:srgbClr val="62706A"/>
                </a:solidFill>
              </a:rPr>
              <a:t>视频文件体量较小，可作为后续网页媒体区、项目现场记录或社交传播素材保留。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FC82B-BDC5-4002-AEF8-32F3A174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2"/>
                </a:solidFill>
              </a:defRPr>
            </a:pPr>
            <a:r>
              <a:rPr sz="1800" b="1">
                <a:solidFill>
                  <a:srgbClr val="101312"/>
                </a:solidFill>
              </a:rPr>
              <a:t>主要工作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64FF9-4E6E-4D8B-B6B9-D6BE20EE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当前文件作为媒体资料进入归档，后续可截取封面、转码为网页可播放素材。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适合服务活动传播、项目现场展示、短视频平台内容延展。</a:t>
            </a:r>
          </a:p>
          <a:p xmlns:a="http://schemas.openxmlformats.org/drawingml/2006/main">
            <a:pPr algn="l">
              <a:defRPr sz="1275" b="0">
                <a:solidFill>
                  <a:srgbClr val="101312"/>
                </a:solidFill>
              </a:defRPr>
            </a:pPr>
            <a:r>
              <a:rPr sz="1275" b="0">
                <a:solidFill>
                  <a:srgbClr val="101312"/>
                </a:solidFill>
              </a:rPr>
              <a:t>· 在正式网站中可与项目图片、活动介绍和传播成果放在同一案例页面。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2BEE5-CC8D-4FDC-B1B0-9A46027F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来源：xhs_live_photo_1693284518917.mp4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f1ee12f6441bb"/>
          <a:srcRect xmlns:a="http://schemas.openxmlformats.org/drawingml/2006/main" l="0" t="1659" r="0" b="16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2000250"/>
            <a:ext cx="4057650" cy="2571750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0A168-0CCB-41B9-8E24-8728D48D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视频归档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85781-8AE6-4F3E-8432-41009E0C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76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传播素材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E5C9F-6BF3-4807-937E-CC8C2B67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340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现场记录</a:t>
            </a:r>
          </a:p>
        </p:txBody>
      </p:sp>
    </p:spTree>
    <p:extLst>
      <p:ext uri="{BB962C8B-B14F-4D97-AF65-F5344CB8AC3E}">
        <p14:creationId xmlns:p14="http://schemas.microsoft.com/office/powerpoint/2010/main" val="8504206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ED6A1B-7457-47D2-889E-116E812A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项目矩阵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9E9AA-BEF1-457C-9A45-BD0AF1F4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帕斯卡画廊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CDD27-94F6-45DC-9AB8-618569C8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312"/>
                </a:solidFill>
              </a:defRPr>
            </a:pPr>
            <a:r>
              <a:rPr sz="3150" b="1">
                <a:solidFill>
                  <a:srgbClr val="101312"/>
                </a:solidFill>
              </a:rPr>
              <a:t>项目资料已经归入服务体系，后续新增内容可以按同一结构进入网页和 PPT。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39A05-1F6A-498D-9CC4-1614DD3C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E66A"/>
          </a:solidFill>
          <a:ln xmlns:a="http://schemas.openxmlformats.org/drawingml/2006/main" w="0">
            <a:solidFill>
              <a:srgbClr val="19E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BBF25-BC72-4B38-AFF7-618CEF3F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8A3B"/>
                </a:solidFill>
              </a:defRPr>
            </a:pPr>
            <a:r>
              <a:rPr sz="1500" b="1">
                <a:solidFill>
                  <a:srgbClr val="078A3B"/>
                </a:solidFill>
              </a:rPr>
              <a:t>艺术品销售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E2972-C821-4DB7-9D7B-F318ABB8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帕斯卡画廊综合介绍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展览工作计划与画廊合作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罗浮宫艺术、展览、活动策划框架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柏典酒店天津样板间艺术品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无锡艺术空间与古街更新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中新生态城艺术展览概念案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棉三创意街区公共艺术雕塑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10383-81C2-48A1-889F-4802C2D2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431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8A3B"/>
                </a:solidFill>
              </a:defRPr>
            </a:pPr>
            <a:r>
              <a:rPr sz="1500" b="1">
                <a:solidFill>
                  <a:srgbClr val="078A3B"/>
                </a:solidFill>
              </a:rPr>
              <a:t>艺术品与场地租赁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F2193-40F7-4FDD-8C5A-EC76A628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43200"/>
            <a:ext cx="1809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展览工作计划与画廊合作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无锡艺术空间与古街更新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团泊艺术空间改造策划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和光美术馆命名与生态艺术定位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团泊洼文旅项目可行性分析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天津中原百货美陈提升概念设计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95E57-4F21-459B-B8DD-BD4B1140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431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8A3B"/>
                </a:solidFill>
              </a:defRPr>
            </a:pPr>
            <a:r>
              <a:rPr sz="1500" b="1">
                <a:solidFill>
                  <a:srgbClr val="078A3B"/>
                </a:solidFill>
              </a:rPr>
              <a:t>文旅项目策划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EBA6A-86B9-40A3-BFC4-6F2D911C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43200"/>
            <a:ext cx="1809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帕斯卡画廊综合介绍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展览工作计划与画廊合作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罗浮宫艺术、展览、活动策划框架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团泊艺术空间改造策划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和光美术馆命名与生态艺术定位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团泊洼文旅项目可行性分析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中新生态城艺术展览概念案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全国青少年无人机大赛传播与 IP 衍生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A6B0A-86C6-427F-9386-E5FE8269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431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8A3B"/>
                </a:solidFill>
              </a:defRPr>
            </a:pPr>
            <a:r>
              <a:rPr sz="1500" b="1">
                <a:solidFill>
                  <a:srgbClr val="078A3B"/>
                </a:solidFill>
              </a:rPr>
              <a:t>设计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5EA8C-457E-4780-BEDF-B8E026C9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43200"/>
            <a:ext cx="1809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帕斯卡画廊综合介绍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展览工作计划与画廊合作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罗浮宫艺术、展览、活动策划框架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柏典酒店天津样板间艺术品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无锡艺术空间与古街更新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团泊艺术空间改造策划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和光美术馆命名与生态艺术定位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团泊洼文旅项目可行性分析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0EFFE-65A1-4867-A389-AFE78440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431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8A3B"/>
                </a:solidFill>
              </a:defRPr>
            </a:pPr>
            <a:r>
              <a:rPr sz="1500" b="1">
                <a:solidFill>
                  <a:srgbClr val="078A3B"/>
                </a:solidFill>
              </a:rPr>
              <a:t>景观艺术品制作施工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5DE54C-FE1B-4868-9875-8F608752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43200"/>
            <a:ext cx="1809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柏典酒店天津样板间艺术品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团泊洼文旅项目可行性分析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中新生态城艺术展览概念案</a:t>
            </a:r>
          </a:p>
          <a:p xmlns:a="http://schemas.openxmlformats.org/drawingml/2006/main">
            <a:pPr algn="l">
              <a:defRPr sz="1125" b="0">
                <a:solidFill>
                  <a:srgbClr val="62706A"/>
                </a:solidFill>
              </a:defRPr>
            </a:pPr>
            <a:r>
              <a:rPr sz="1125" b="0">
                <a:solidFill>
                  <a:srgbClr val="62706A"/>
                </a:solidFill>
              </a:rPr>
              <a:t>· 棉三创意街区公共艺术雕塑</a:t>
            </a:r>
          </a:p>
        </p:txBody>
      </p:sp>
    </p:spTree>
    <p:extLst>
      <p:ext uri="{BB962C8B-B14F-4D97-AF65-F5344CB8AC3E}">
        <p14:creationId xmlns:p14="http://schemas.microsoft.com/office/powerpoint/2010/main" val="164874262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52F09C-24E0-48FC-B7E8-B8045BFE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43000"/>
            <a:ext cx="819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1312"/>
                </a:solidFill>
              </a:defRPr>
            </a:pPr>
            <a:r>
              <a:rPr sz="3750" b="1">
                <a:solidFill>
                  <a:srgbClr val="101312"/>
                </a:solidFill>
              </a:rPr>
              <a:t>下一步可以把每个项目继续扩展成独立详情页。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C438B-6ED3-4E19-A822-507BC4B2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706A"/>
                </a:solidFill>
              </a:defRPr>
            </a:pPr>
            <a:r>
              <a:rPr sz="1800" b="0">
                <a:solidFill>
                  <a:srgbClr val="62706A"/>
                </a:solidFill>
              </a:rPr>
              <a:t>当前网页和 PPT 已经统一为五类服务结构。后续只需要继续补充项目图片、视频、合同范围、施工照片和最终成果，就能形成完整的线上案例库。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62EBA-525F-4ED4-ACA7-8C2108BC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网页案例库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99901-5C43-4D5B-90FD-2260D63E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624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服务型 PPT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A5A93-13E4-4315-A00D-8A356177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3624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8A3B"/>
                </a:solidFill>
              </a:defRPr>
            </a:pPr>
            <a:r>
              <a:rPr sz="1125" b="1">
                <a:solidFill>
                  <a:srgbClr val="078A3B"/>
                </a:solidFill>
              </a:rPr>
              <a:t>项目资料归档</a:t>
            </a:r>
          </a:p>
        </p:txBody>
      </p:sp>
    </p:spTree>
    <p:extLst>
      <p:ext uri="{BB962C8B-B14F-4D97-AF65-F5344CB8AC3E}">
        <p14:creationId xmlns:p14="http://schemas.microsoft.com/office/powerpoint/2010/main" val="5804338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2026-07-09T08:14:02.4140000Z</dcterms:created>
  <dcterms:modified xsi:type="dcterms:W3CDTF">2026-07-09T08:14:02.4140000Z</dcterms:modified>
</coreProperties>
</file>